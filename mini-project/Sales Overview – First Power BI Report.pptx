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C15"/>
    <a:srgbClr val="73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43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689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" cy="10160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2438400" y="0"/>
            <a:ext cx="2438400" cy="1016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Shape 2"/>
          <p:cNvSpPr/>
          <p:nvPr/>
        </p:nvSpPr>
        <p:spPr>
          <a:xfrm>
            <a:off x="4876800" y="0"/>
            <a:ext cx="2438400" cy="1016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7315200" y="0"/>
            <a:ext cx="2438400" cy="10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9753600" y="0"/>
            <a:ext cx="2438400" cy="101600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9" name="Text 7"/>
          <p:cNvSpPr/>
          <p:nvPr/>
        </p:nvSpPr>
        <p:spPr>
          <a:xfrm>
            <a:off x="812800" y="339101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973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 PROJECT</a:t>
            </a:r>
            <a:endParaRPr lang="en-US" sz="1500" dirty="0"/>
          </a:p>
        </p:txBody>
      </p:sp>
      <p:sp>
        <p:nvSpPr>
          <p:cNvPr id="10" name="Text 8"/>
          <p:cNvSpPr>
            <a:spLocks noGrp="1"/>
          </p:cNvSpPr>
          <p:nvPr>
            <p:ph type="title"/>
          </p:nvPr>
        </p:nvSpPr>
        <p:spPr>
          <a:xfrm>
            <a:off x="812800" y="3852487"/>
            <a:ext cx="10883392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Power BI Report:</a:t>
            </a:r>
            <a:endParaRPr lang="en-US" sz="4800" dirty="0"/>
          </a:p>
          <a:p>
            <a:pPr marL="0" indent="0" algn="l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9333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</a:t>
            </a:r>
            <a:r>
              <a:rPr lang="en-US" sz="4800" b="1" i="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4800" b="1" i="0" dirty="0">
                <a:solidFill>
                  <a:srgbClr val="10B9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Overview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12800" y="5285047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A3A9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Rowad Misr Initiative · Presented by Data Miners team</a:t>
            </a:r>
            <a:endParaRPr lang="en-US" sz="1600" dirty="0"/>
          </a:p>
        </p:txBody>
      </p:sp>
      <p:pic>
        <p:nvPicPr>
          <p:cNvPr id="15" name="Picture 14" descr="ITC | LMS">
            <a:extLst>
              <a:ext uri="{FF2B5EF4-FFF2-40B4-BE49-F238E27FC236}">
                <a16:creationId xmlns:a16="http://schemas.microsoft.com/office/drawing/2014/main" id="{7D5ABF59-D47A-2860-B34D-3D319CF85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992" y="432781"/>
            <a:ext cx="1219200" cy="1219200"/>
          </a:xfrm>
          <a:prstGeom prst="rect">
            <a:avLst/>
          </a:prstGeom>
        </p:spPr>
      </p:pic>
      <p:pic>
        <p:nvPicPr>
          <p:cNvPr id="17" name="Picture 16" descr="مبادرة رواد مصر الرقمية‎ (@depi.gov.eg) • Instagram photos and videos">
            <a:extLst>
              <a:ext uri="{FF2B5EF4-FFF2-40B4-BE49-F238E27FC236}">
                <a16:creationId xmlns:a16="http://schemas.microsoft.com/office/drawing/2014/main" id="{A0BF1713-3E28-9040-AA6F-043832590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614" y="540933"/>
            <a:ext cx="1059971" cy="1002896"/>
          </a:xfrm>
          <a:prstGeom prst="ellipse">
            <a:avLst/>
          </a:prstGeom>
          <a:ln w="38100">
            <a:solidFill>
              <a:srgbClr val="730909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" cy="7620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2438400" y="0"/>
            <a:ext cx="2438400" cy="76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Shape 2"/>
          <p:cNvSpPr/>
          <p:nvPr/>
        </p:nvSpPr>
        <p:spPr>
          <a:xfrm>
            <a:off x="4876800" y="0"/>
            <a:ext cx="2438400" cy="762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7315200" y="0"/>
            <a:ext cx="2438400" cy="76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9753600" y="0"/>
            <a:ext cx="2438400" cy="76200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Team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15975" y="1567815"/>
            <a:ext cx="3380264" cy="1830070"/>
          </a:xfrm>
          <a:prstGeom prst="roundRect">
            <a:avLst>
              <a:gd name="adj" fmla="val 6766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Shape 7"/>
          <p:cNvSpPr/>
          <p:nvPr/>
        </p:nvSpPr>
        <p:spPr>
          <a:xfrm>
            <a:off x="1071880" y="182372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Text 8"/>
          <p:cNvSpPr/>
          <p:nvPr/>
        </p:nvSpPr>
        <p:spPr>
          <a:xfrm>
            <a:off x="1071880" y="2571864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Ahmed Fakher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405789" y="1567815"/>
            <a:ext cx="3380343" cy="1830070"/>
          </a:xfrm>
          <a:prstGeom prst="roundRect">
            <a:avLst>
              <a:gd name="adj" fmla="val 6766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Shape 11"/>
          <p:cNvSpPr/>
          <p:nvPr/>
        </p:nvSpPr>
        <p:spPr>
          <a:xfrm>
            <a:off x="4661694" y="182372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4" name="Text 12"/>
          <p:cNvSpPr/>
          <p:nvPr/>
        </p:nvSpPr>
        <p:spPr>
          <a:xfrm>
            <a:off x="4661694" y="2571864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b="1" dirty="0">
                <a:solidFill>
                  <a:srgbClr val="F1F2F6"/>
                </a:solidFill>
                <a:latin typeface="Poppins" pitchFamily="34" charset="0"/>
                <a:cs typeface="Poppins" pitchFamily="34" charset="-120"/>
              </a:rPr>
              <a:t>Amira Adel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995682" y="1567815"/>
            <a:ext cx="3380343" cy="1830070"/>
          </a:xfrm>
          <a:prstGeom prst="roundRect">
            <a:avLst>
              <a:gd name="adj" fmla="val 6766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7" name="Shape 15"/>
          <p:cNvSpPr/>
          <p:nvPr/>
        </p:nvSpPr>
        <p:spPr>
          <a:xfrm>
            <a:off x="8251587" y="182372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Text 16"/>
          <p:cNvSpPr/>
          <p:nvPr/>
        </p:nvSpPr>
        <p:spPr>
          <a:xfrm>
            <a:off x="8251587" y="2571864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 Abdelsalam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718667" y="3607435"/>
            <a:ext cx="3380264" cy="1830070"/>
          </a:xfrm>
          <a:prstGeom prst="roundRect">
            <a:avLst>
              <a:gd name="adj" fmla="val 6766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1" name="Shape 19"/>
          <p:cNvSpPr/>
          <p:nvPr/>
        </p:nvSpPr>
        <p:spPr>
          <a:xfrm>
            <a:off x="2974572" y="386334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2" name="Text 20"/>
          <p:cNvSpPr/>
          <p:nvPr/>
        </p:nvSpPr>
        <p:spPr>
          <a:xfrm>
            <a:off x="2974572" y="4611484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Mariam Skoot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379328" y="3607435"/>
            <a:ext cx="3380343" cy="1830070"/>
          </a:xfrm>
          <a:prstGeom prst="roundRect">
            <a:avLst>
              <a:gd name="adj" fmla="val 6766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9" name="Shape 27"/>
          <p:cNvSpPr/>
          <p:nvPr/>
        </p:nvSpPr>
        <p:spPr>
          <a:xfrm>
            <a:off x="6635233" y="386334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  <p:txBody>
          <a:bodyPr/>
          <a:lstStyle/>
          <a:p>
            <a:endParaRPr lang="en-001" dirty="0">
              <a:highlight>
                <a:srgbClr val="FFFF00"/>
              </a:highlight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35233" y="4611484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Esraa Badr</a:t>
            </a:r>
            <a:endParaRPr lang="en-US" sz="1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22AC04A-EB2D-BE7D-6D1B-19BF53A8D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80" y="1878213"/>
            <a:ext cx="462602" cy="46260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E73D29D-CA0C-4622-E345-16FC88462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440" y="1878213"/>
            <a:ext cx="460253" cy="46025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59147B0-5F4C-C891-58CC-60892AC11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224" y="1859909"/>
            <a:ext cx="496859" cy="49685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A12C8D4-9006-1B04-B780-C276C0B9B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763" y="3909550"/>
            <a:ext cx="496859" cy="49685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6E9FAB7-0FBA-D5A7-3818-C3E0F7BFC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102" y="3914630"/>
            <a:ext cx="496859" cy="4968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" cy="7620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2438400" y="0"/>
            <a:ext cx="2438400" cy="76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Shape 2"/>
          <p:cNvSpPr/>
          <p:nvPr/>
        </p:nvSpPr>
        <p:spPr>
          <a:xfrm>
            <a:off x="4876800" y="0"/>
            <a:ext cx="2438400" cy="762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7315200" y="0"/>
            <a:ext cx="2438400" cy="76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9753600" y="0"/>
            <a:ext cx="2438400" cy="76200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>
            <a:spLocks noGrp="1"/>
          </p:cNvSpPr>
          <p:nvPr>
            <p:ph type="title"/>
          </p:nvPr>
        </p:nvSpPr>
        <p:spPr>
          <a:xfrm>
            <a:off x="812800" y="868216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15975" y="1780251"/>
            <a:ext cx="2482850" cy="1903730"/>
          </a:xfrm>
          <a:prstGeom prst="roundRect">
            <a:avLst>
              <a:gd name="adj" fmla="val 6504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7"/>
          <p:cNvSpPr/>
          <p:nvPr/>
        </p:nvSpPr>
        <p:spPr>
          <a:xfrm>
            <a:off x="1071880" y="2036155"/>
            <a:ext cx="203017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9333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071880" y="2848955"/>
            <a:ext cx="2030171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508375" y="1780251"/>
            <a:ext cx="2482850" cy="1903730"/>
          </a:xfrm>
          <a:prstGeom prst="roundRect">
            <a:avLst>
              <a:gd name="adj" fmla="val 6504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Text 10"/>
          <p:cNvSpPr/>
          <p:nvPr/>
        </p:nvSpPr>
        <p:spPr>
          <a:xfrm>
            <a:off x="3764280" y="2036155"/>
            <a:ext cx="203017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973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764280" y="2848955"/>
            <a:ext cx="203017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Cleaning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00775" y="1780251"/>
            <a:ext cx="2482850" cy="1903730"/>
          </a:xfrm>
          <a:prstGeom prst="roundRect">
            <a:avLst>
              <a:gd name="adj" fmla="val 6504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Text 13"/>
          <p:cNvSpPr/>
          <p:nvPr/>
        </p:nvSpPr>
        <p:spPr>
          <a:xfrm>
            <a:off x="6456680" y="2036155"/>
            <a:ext cx="203017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56680" y="2848955"/>
            <a:ext cx="203017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Modeling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93175" y="1780251"/>
            <a:ext cx="2482850" cy="1903730"/>
          </a:xfrm>
          <a:prstGeom prst="roundRect">
            <a:avLst>
              <a:gd name="adj" fmla="val 6504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Text 16"/>
          <p:cNvSpPr/>
          <p:nvPr/>
        </p:nvSpPr>
        <p:spPr>
          <a:xfrm>
            <a:off x="9149080" y="2036155"/>
            <a:ext cx="203017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10B9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49080" y="2848955"/>
            <a:ext cx="2030171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&amp; Insights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" cy="7620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2438400" y="0"/>
            <a:ext cx="2438400" cy="76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Shape 2"/>
          <p:cNvSpPr/>
          <p:nvPr/>
        </p:nvSpPr>
        <p:spPr>
          <a:xfrm>
            <a:off x="4876800" y="0"/>
            <a:ext cx="2438400" cy="762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7315200" y="0"/>
            <a:ext cx="2438400" cy="76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9753600" y="0"/>
            <a:ext cx="2438400" cy="76200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12800" y="1564641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A3A9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data sits in one raw Excel sheet. Management cannot quickly see how the business is performing.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5975" y="2512695"/>
            <a:ext cx="3380264" cy="2221230"/>
          </a:xfrm>
          <a:prstGeom prst="roundRect">
            <a:avLst>
              <a:gd name="adj" fmla="val 5575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Text 8"/>
          <p:cNvSpPr/>
          <p:nvPr/>
        </p:nvSpPr>
        <p:spPr>
          <a:xfrm>
            <a:off x="1071880" y="2768600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9333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50112" y="3144520"/>
            <a:ext cx="286865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104 orders, 48 customers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Feb 2023 to Dec 2024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columns, 4 products, 4 regions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05789" y="2512695"/>
            <a:ext cx="3380343" cy="2221230"/>
          </a:xfrm>
          <a:prstGeom prst="roundRect">
            <a:avLst>
              <a:gd name="adj" fmla="val 5575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Text 11"/>
          <p:cNvSpPr/>
          <p:nvPr/>
        </p:nvSpPr>
        <p:spPr>
          <a:xfrm>
            <a:off x="4661694" y="27686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Questions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39926" y="3144520"/>
            <a:ext cx="2868737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much did we sell?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category, product and region lead?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do sales move month to month?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95682" y="2512695"/>
            <a:ext cx="3380343" cy="2221230"/>
          </a:xfrm>
          <a:prstGeom prst="roundRect">
            <a:avLst>
              <a:gd name="adj" fmla="val 5575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Text 14"/>
          <p:cNvSpPr/>
          <p:nvPr/>
        </p:nvSpPr>
        <p:spPr>
          <a:xfrm>
            <a:off x="8251587" y="27686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Goal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9819" y="3144520"/>
            <a:ext cx="2868737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 the raw data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a simple model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 one interactive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" cy="7620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2438400" y="0"/>
            <a:ext cx="2438400" cy="76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Shape 2"/>
          <p:cNvSpPr/>
          <p:nvPr/>
        </p:nvSpPr>
        <p:spPr>
          <a:xfrm>
            <a:off x="4876800" y="0"/>
            <a:ext cx="2438400" cy="762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7315200" y="0"/>
            <a:ext cx="2438400" cy="76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9753600" y="0"/>
            <a:ext cx="2438400" cy="76200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1: Data Cleaning by Power Query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632561"/>
              </p:ext>
            </p:extLst>
          </p:nvPr>
        </p:nvGraphicFramePr>
        <p:xfrm>
          <a:off x="822960" y="1574799"/>
          <a:ext cx="10556241" cy="4409440"/>
        </p:xfrm>
        <a:graphic>
          <a:graphicData uri="http://schemas.openxmlformats.org/drawingml/2006/table">
            <a:tbl>
              <a:tblPr/>
              <a:tblGrid>
                <a:gridCol w="3388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8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Column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Issue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Action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9731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Category_Type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Mixed case: “accessories” vs “Accessories”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Standardized to one format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9731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Order_Date_new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Dates must be real dates for time analysis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Set as Date type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9731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Qty, Unit_Price, Total_Sales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Numbers must be numeric and consistent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Whole-number type; Total = Qty × Price checked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9731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Order_ID, nulls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Duplicates and missing values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None found: IDs unique, no blanks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9731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Zero price / zero qty rows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 rows with price 0, 7 with qty ≤ 0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0B98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Reviewed and kept in totals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" cy="7620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2438400" y="0"/>
            <a:ext cx="2438400" cy="76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Shape 2"/>
          <p:cNvSpPr/>
          <p:nvPr/>
        </p:nvSpPr>
        <p:spPr>
          <a:xfrm>
            <a:off x="4876800" y="0"/>
            <a:ext cx="2438400" cy="762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7315200" y="0"/>
            <a:ext cx="2438400" cy="76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9753600" y="0"/>
            <a:ext cx="2438400" cy="76200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0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3"/>
              </a:lnSpc>
              <a:buNone/>
            </a:pPr>
            <a:r>
              <a:rPr lang="en-US" sz="2930" b="1" i="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2: Data Modeling &amp; Measures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815975" y="1525510"/>
            <a:ext cx="2121189" cy="1417241"/>
          </a:xfrm>
          <a:prstGeom prst="roundRect">
            <a:avLst>
              <a:gd name="adj" fmla="val 8737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7"/>
          <p:cNvSpPr/>
          <p:nvPr/>
        </p:nvSpPr>
        <p:spPr>
          <a:xfrm>
            <a:off x="1071881" y="1781414"/>
            <a:ext cx="1737360" cy="244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Table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1880" y="2101692"/>
            <a:ext cx="1865284" cy="841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8"/>
              </a:lnSpc>
              <a:buNone/>
            </a:pPr>
            <a:r>
              <a:rPr lang="en-US" sz="1000" dirty="0">
                <a:solidFill>
                  <a:srgbClr val="A3A9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Cleaned orders: customer, product, category, region, date, qty, price, total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93069" y="1543289"/>
            <a:ext cx="2166331" cy="1417241"/>
          </a:xfrm>
          <a:prstGeom prst="roundRect">
            <a:avLst>
              <a:gd name="adj" fmla="val 8737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Text 10"/>
          <p:cNvSpPr/>
          <p:nvPr/>
        </p:nvSpPr>
        <p:spPr>
          <a:xfrm>
            <a:off x="3434451" y="1777763"/>
            <a:ext cx="1604910" cy="244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1600" b="1" dirty="0">
                <a:solidFill>
                  <a:srgbClr val="F973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 Fields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48974" y="2119471"/>
            <a:ext cx="1854025" cy="938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1"/>
              </a:lnSpc>
              <a:buNone/>
            </a:pPr>
            <a:r>
              <a:rPr lang="en-US" sz="1000" dirty="0">
                <a:solidFill>
                  <a:srgbClr val="A3A9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Year and Month taken from the order date to drive the slicers and the monthly trend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5029" y="1525509"/>
            <a:ext cx="2304852" cy="1456715"/>
          </a:xfrm>
          <a:prstGeom prst="roundRect">
            <a:avLst>
              <a:gd name="adj" fmla="val 8737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Text 13"/>
          <p:cNvSpPr/>
          <p:nvPr/>
        </p:nvSpPr>
        <p:spPr>
          <a:xfrm>
            <a:off x="5880934" y="1746725"/>
            <a:ext cx="184629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600" b="1" dirty="0">
                <a:solidFill>
                  <a:srgbClr val="10B9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DAX Measures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80934" y="2142093"/>
            <a:ext cx="18508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050" dirty="0">
                <a:solidFill>
                  <a:srgbClr val="A3A9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KPIs feeding the cards on the dashboard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486772"/>
              </p:ext>
            </p:extLst>
          </p:nvPr>
        </p:nvGraphicFramePr>
        <p:xfrm>
          <a:off x="822960" y="3230406"/>
          <a:ext cx="10556241" cy="3379837"/>
        </p:xfrm>
        <a:graphic>
          <a:graphicData uri="http://schemas.openxmlformats.org/drawingml/2006/table">
            <a:tbl>
              <a:tblPr/>
              <a:tblGrid>
                <a:gridCol w="318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3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874"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b="1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KPI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b="1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Logic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b="1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Value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633"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Total Sales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A3A9B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Sum of Total_Sales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FACC1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$199,277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0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Total Orders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A3A9B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Distinct count of Order_ID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FACC1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104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Total Customers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A3A9B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Distinct count of Customer_Name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FACC1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48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Avg Order Value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A3A9B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Total Sales ÷ Total Orders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FACC1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$1,916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001" sz="148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 Unit Price</a:t>
                      </a: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0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75" dirty="0">
                          <a:solidFill>
                            <a:srgbClr val="A3A9B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Total Sales ÷ Total Quantity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0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75" dirty="0">
                          <a:solidFill>
                            <a:srgbClr val="FACC1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$388.45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925923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F1F2F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Total Quantity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A3A9B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Sum of Qty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65"/>
                        </a:lnSpc>
                        <a:buNone/>
                      </a:pPr>
                      <a:r>
                        <a:rPr lang="en-US" sz="1475" dirty="0">
                          <a:solidFill>
                            <a:srgbClr val="FACC1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513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1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59F9956C-EE6E-6C32-7F9D-326CE2349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786" y="856664"/>
            <a:ext cx="3190239" cy="212556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" cy="7620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2438400" y="0"/>
            <a:ext cx="2438400" cy="76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Shape 2"/>
          <p:cNvSpPr/>
          <p:nvPr/>
        </p:nvSpPr>
        <p:spPr>
          <a:xfrm>
            <a:off x="4876800" y="0"/>
            <a:ext cx="2438400" cy="762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7315200" y="0"/>
            <a:ext cx="2438400" cy="76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9753600" y="0"/>
            <a:ext cx="2438400" cy="76200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>
            <a:spLocks noGrp="1"/>
          </p:cNvSpPr>
          <p:nvPr>
            <p:ph type="title"/>
          </p:nvPr>
        </p:nvSpPr>
        <p:spPr>
          <a:xfrm>
            <a:off x="812800" y="6350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3: The Dashboard</a:t>
            </a:r>
            <a:endParaRPr lang="en-US" sz="3200" dirty="0"/>
          </a:p>
        </p:txBody>
      </p:sp>
      <p:pic>
        <p:nvPicPr>
          <p:cNvPr id="8" name="Image 0" descr="Final Sales Overview dashboard"/>
          <p:cNvPicPr>
            <a:picLocks noChangeAspect="1"/>
          </p:cNvPicPr>
          <p:nvPr/>
        </p:nvPicPr>
        <p:blipFill>
          <a:blip r:embed="rId3"/>
          <a:srcRect l="-66" r="-66"/>
          <a:stretch/>
        </p:blipFill>
        <p:spPr>
          <a:xfrm>
            <a:off x="825500" y="1399539"/>
            <a:ext cx="6083300" cy="4356382"/>
          </a:xfrm>
          <a:prstGeom prst="roundRect">
            <a:avLst>
              <a:gd name="adj" fmla="val 2936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819150" y="1393189"/>
            <a:ext cx="5448300" cy="3905250"/>
          </a:xfrm>
          <a:prstGeom prst="roundRect">
            <a:avLst>
              <a:gd name="adj" fmla="val 3089"/>
            </a:avLst>
          </a:prstGeom>
          <a:noFill/>
          <a:ln w="1270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Shape 7"/>
          <p:cNvSpPr/>
          <p:nvPr/>
        </p:nvSpPr>
        <p:spPr>
          <a:xfrm>
            <a:off x="7028815" y="1562734"/>
            <a:ext cx="4794250" cy="699770"/>
          </a:xfrm>
          <a:prstGeom prst="roundRect">
            <a:avLst>
              <a:gd name="adj" fmla="val 14065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Text 8"/>
          <p:cNvSpPr/>
          <p:nvPr/>
        </p:nvSpPr>
        <p:spPr>
          <a:xfrm>
            <a:off x="7208520" y="1691641"/>
            <a:ext cx="45678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Electronics leads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08520" y="1920241"/>
            <a:ext cx="45678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A9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$117K vs $82K for Accessories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028815" y="2395856"/>
            <a:ext cx="4794250" cy="699770"/>
          </a:xfrm>
          <a:prstGeom prst="roundRect">
            <a:avLst>
              <a:gd name="adj" fmla="val 14065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Text 11"/>
          <p:cNvSpPr/>
          <p:nvPr/>
        </p:nvSpPr>
        <p:spPr>
          <a:xfrm>
            <a:off x="7208520" y="2524759"/>
            <a:ext cx="45678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star product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08520" y="2753359"/>
            <a:ext cx="45678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A9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Laptop Pro 15 brings $151K of $199K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028815" y="3228977"/>
            <a:ext cx="4794250" cy="699770"/>
          </a:xfrm>
          <a:prstGeom prst="roundRect">
            <a:avLst>
              <a:gd name="adj" fmla="val 14065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7" name="Text 14"/>
          <p:cNvSpPr/>
          <p:nvPr/>
        </p:nvSpPr>
        <p:spPr>
          <a:xfrm>
            <a:off x="7208520" y="3357881"/>
            <a:ext cx="45678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East is top region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208520" y="3586481"/>
            <a:ext cx="45678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A9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$57K, while West trails at $37K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28815" y="4062095"/>
            <a:ext cx="4794250" cy="699770"/>
          </a:xfrm>
          <a:prstGeom prst="roundRect">
            <a:avLst>
              <a:gd name="adj" fmla="val 14065"/>
            </a:avLst>
          </a:prstGeom>
          <a:solidFill>
            <a:srgbClr val="171A26"/>
          </a:solidFill>
          <a:ln w="6350">
            <a:solidFill>
              <a:srgbClr val="2A2F4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0" name="Text 17"/>
          <p:cNvSpPr/>
          <p:nvPr/>
        </p:nvSpPr>
        <p:spPr>
          <a:xfrm>
            <a:off x="7208520" y="4191002"/>
            <a:ext cx="45678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Peak and dip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208520" y="4419602"/>
            <a:ext cx="45678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A9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Highest in December ($34K), lowest in September ($2K)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" cy="10160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2438400" y="0"/>
            <a:ext cx="2438400" cy="1016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Shape 2"/>
          <p:cNvSpPr/>
          <p:nvPr/>
        </p:nvSpPr>
        <p:spPr>
          <a:xfrm>
            <a:off x="4876800" y="0"/>
            <a:ext cx="2438400" cy="1016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7315200" y="0"/>
            <a:ext cx="2438400" cy="10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9753600" y="0"/>
            <a:ext cx="2438400" cy="101600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>
            <a:spLocks noGrp="1"/>
          </p:cNvSpPr>
          <p:nvPr>
            <p:ph type="title"/>
          </p:nvPr>
        </p:nvSpPr>
        <p:spPr>
          <a:xfrm>
            <a:off x="3269672" y="2759363"/>
            <a:ext cx="5652655" cy="1025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875"/>
              </a:lnSpc>
              <a:buNone/>
            </a:pPr>
            <a:r>
              <a:rPr lang="en-US" sz="7500" b="1" i="0" dirty="0">
                <a:solidFill>
                  <a:srgbClr val="9333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</a:t>
            </a:r>
            <a:r>
              <a:rPr lang="en-US" sz="7500" b="1" i="0" dirty="0">
                <a:solidFill>
                  <a:srgbClr val="F1F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7500" b="1" i="0" dirty="0">
                <a:solidFill>
                  <a:srgbClr val="F973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3269672" y="3911888"/>
            <a:ext cx="56526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dirty="0">
                <a:solidFill>
                  <a:srgbClr val="A3A9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 questions?</a:t>
            </a:r>
            <a:endParaRPr lang="en-US" sz="2000" dirty="0"/>
          </a:p>
        </p:txBody>
      </p:sp>
      <p:pic>
        <p:nvPicPr>
          <p:cNvPr id="12" name="Picture 11" descr="ITC | LMS">
            <a:extLst>
              <a:ext uri="{FF2B5EF4-FFF2-40B4-BE49-F238E27FC236}">
                <a16:creationId xmlns:a16="http://schemas.microsoft.com/office/drawing/2014/main" id="{0ACF6F42-3966-1BCB-8670-C83C5491A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134" y="5488138"/>
            <a:ext cx="1068352" cy="1068352"/>
          </a:xfrm>
          <a:prstGeom prst="rect">
            <a:avLst/>
          </a:prstGeom>
        </p:spPr>
      </p:pic>
      <p:pic>
        <p:nvPicPr>
          <p:cNvPr id="14" name="Picture 13" descr="مبادرة رواد مصر الرقمية‎ (@depi.gov.eg) • Instagram photos and videos">
            <a:extLst>
              <a:ext uri="{FF2B5EF4-FFF2-40B4-BE49-F238E27FC236}">
                <a16:creationId xmlns:a16="http://schemas.microsoft.com/office/drawing/2014/main" id="{32CF5A5D-6A05-F956-1930-BAC257C81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72" y="5569526"/>
            <a:ext cx="928824" cy="878811"/>
          </a:xfrm>
          <a:prstGeom prst="ellipse">
            <a:avLst/>
          </a:prstGeom>
          <a:ln w="38100">
            <a:solidFill>
              <a:srgbClr val="730909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les Overview – First Power BI Report">
  <a:themeElements>
    <a:clrScheme name="Sales Overview – First Power BI Report">
      <a:dk1>
        <a:srgbClr val="0B0D14"/>
      </a:dk1>
      <a:lt1>
        <a:srgbClr val="F1F2F6"/>
      </a:lt1>
      <a:dk2>
        <a:srgbClr val="22242B"/>
      </a:dk2>
      <a:lt2>
        <a:srgbClr val="B8B9BE"/>
      </a:lt2>
      <a:accent1>
        <a:srgbClr val="F97316"/>
      </a:accent1>
      <a:accent2>
        <a:srgbClr val="9333EA"/>
      </a:accent2>
      <a:accent3>
        <a:srgbClr val="10B981"/>
      </a:accent3>
      <a:accent4>
        <a:srgbClr val="38BDF8"/>
      </a:accent4>
      <a:accent5>
        <a:srgbClr val="FACC15"/>
      </a:accent5>
      <a:accent6>
        <a:srgbClr val="A3A9BF"/>
      </a:accent6>
      <a:hlink>
        <a:srgbClr val="0563C1"/>
      </a:hlink>
      <a:folHlink>
        <a:srgbClr val="954F72"/>
      </a:folHlink>
    </a:clrScheme>
    <a:fontScheme name="Sales Overview – First Power BI Report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409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Poppins</vt:lpstr>
      <vt:lpstr>Sales Overview – First Power BI Report</vt:lpstr>
      <vt:lpstr>First Power BI Report: Sales Overview</vt:lpstr>
      <vt:lpstr>Our Team</vt:lpstr>
      <vt:lpstr>Agenda</vt:lpstr>
      <vt:lpstr>Problem Statement</vt:lpstr>
      <vt:lpstr>Step 1: Data Cleaning by Power Query</vt:lpstr>
      <vt:lpstr>Step 2: Data Modeling &amp; Measures</vt:lpstr>
      <vt:lpstr>Step 3: The Dashboard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Overview – First Power BI Report</dc:title>
  <dc:subject/>
  <dc:creator/>
  <cp:lastModifiedBy>Amr Mohamed</cp:lastModifiedBy>
  <cp:revision>8</cp:revision>
  <dcterms:created xsi:type="dcterms:W3CDTF">2026-10-20T07:58:13Z</dcterms:created>
  <dcterms:modified xsi:type="dcterms:W3CDTF">2026-10-20T08:47:35Z</dcterms:modified>
</cp:coreProperties>
</file>